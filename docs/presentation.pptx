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High Tower Text" panose="02040502050506030303" pitchFamily="18" charset="0"/>
      <p:regular r:id="rId11"/>
      <p:italic r:id="rId12"/>
    </p:embeddedFont>
    <p:embeddedFont>
      <p:font typeface="IBM Plex Sans" panose="020B0503050203000203" pitchFamily="34" charset="0"/>
      <p:regular r:id="rId13"/>
    </p:embeddedFont>
    <p:embeddedFont>
      <p:font typeface="Noto Sans" panose="020B0502040504020204" pitchFamily="34" charset="0"/>
      <p:regular r:id="rId14"/>
    </p:embeddedFont>
    <p:embeddedFont>
      <p:font typeface="Noto Sans Bold" panose="020B0604020202020204" charset="0"/>
      <p:regular r:id="rId15"/>
    </p:embeddedFont>
    <p:embeddedFont>
      <p:font typeface="Noto Sans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115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p1lka-dev/access-event/actio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18212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58800"/>
            <a:ext cx="6959426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FCFBF8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ЗАЩИТА УЧЕБНОГО IT-ПРОЕКТА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86" y="4260453"/>
            <a:ext cx="6451439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ACCESSEVENT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558786" y="5214541"/>
            <a:ext cx="50799" cy="568920"/>
          </a:xfrm>
          <a:prstGeom prst="rect">
            <a:avLst/>
          </a:prstGeom>
          <a:solidFill>
            <a:srgbClr val="E9272A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5235284"/>
            <a:ext cx="6451439" cy="568920"/>
          </a:xfrm>
          <a:prstGeom prst="rect">
            <a:avLst/>
          </a:prstGeom>
          <a:noFill/>
          <a:ln/>
        </p:spPr>
        <p:txBody>
          <a:bodyPr wrap="square" lIns="177796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0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Инклюзивная платформа мероприятий для людей с нарушениями слуха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58786" y="6000948"/>
            <a:ext cx="6451339" cy="31651"/>
          </a:xfrm>
          <a:prstGeom prst="roundRect">
            <a:avLst>
              <a:gd name="adj" fmla="val 49998"/>
            </a:avLst>
          </a:prstGeom>
          <a:solidFill>
            <a:srgbClr val="E9272A"/>
          </a:solidFill>
          <a:ln/>
        </p:spPr>
      </p:sp>
      <p:sp>
        <p:nvSpPr>
          <p:cNvPr id="8" name="Text 6"/>
          <p:cNvSpPr/>
          <p:nvPr/>
        </p:nvSpPr>
        <p:spPr>
          <a:xfrm>
            <a:off x="558786" y="6250186"/>
            <a:ext cx="6959426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kern="100" spc="13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Фото: Alan C. / Wikimedia Commons, CC BY-SA 2.0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18212" y="0"/>
            <a:ext cx="4673483" cy="68580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18212" y="0"/>
            <a:ext cx="4673483" cy="27047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12" name="Shape 9"/>
          <p:cNvSpPr/>
          <p:nvPr/>
        </p:nvSpPr>
        <p:spPr>
          <a:xfrm>
            <a:off x="7518212" y="270470"/>
            <a:ext cx="4673483" cy="897632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13" name="Text 10"/>
          <p:cNvSpPr/>
          <p:nvPr/>
        </p:nvSpPr>
        <p:spPr>
          <a:xfrm>
            <a:off x="7873803" y="499070"/>
            <a:ext cx="4317892" cy="288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i="1" kern="100" spc="32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MVP · ДОСТУПНОСТЬ · CI/CD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1000"/>
            <a:ext cx="11734506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151514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08759"/>
            <a:ext cx="11277318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dirty="0">
                <a:solidFill>
                  <a:srgbClr val="1515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Звуковые уведомления исключают часть пользователей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915815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348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2165052"/>
            <a:ext cx="5638659" cy="4337348"/>
          </a:xfrm>
          <a:custGeom>
            <a:avLst/>
            <a:gdLst/>
            <a:ahLst/>
            <a:cxnLst/>
            <a:rect l="l" t="t" r="r" b="b"/>
            <a:pathLst>
              <a:path w="5638659" h="4337348">
                <a:moveTo>
                  <a:pt x="9525" y="0"/>
                </a:moveTo>
                <a:lnTo>
                  <a:pt x="5638659" y="0"/>
                </a:lnTo>
                <a:lnTo>
                  <a:pt x="5638659" y="4337348"/>
                </a:lnTo>
                <a:lnTo>
                  <a:pt x="9525" y="4337348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15151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469852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81" y="3012460"/>
            <a:ext cx="5029074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Только звук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61981" y="3544828"/>
            <a:ext cx="502907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Важное событие или изменение статуса можно пропустить.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1981" y="4193084"/>
            <a:ext cx="53338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kern="100" spc="14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Сигнал недоступен без слухового восприятия.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95848" y="2165052"/>
            <a:ext cx="5638659" cy="4337348"/>
          </a:xfrm>
          <a:custGeom>
            <a:avLst/>
            <a:gdLst/>
            <a:ahLst/>
            <a:cxnLst/>
            <a:rect l="l" t="t" r="r" b="b"/>
            <a:pathLst>
              <a:path w="5638659" h="4337348">
                <a:moveTo>
                  <a:pt x="0" y="0"/>
                </a:moveTo>
                <a:lnTo>
                  <a:pt x="5629134" y="0"/>
                </a:lnTo>
                <a:arcTo wR="9525" hR="9525" stAng="16200000" swAng="5400000"/>
                <a:lnTo>
                  <a:pt x="5638659" y="4327823"/>
                </a:lnTo>
                <a:arcTo wR="9525" hR="9525" stAng="0" swAng="5400000"/>
                <a:lnTo>
                  <a:pt x="0" y="4337348"/>
                </a:lnTo>
                <a:lnTo>
                  <a:pt x="0" y="0"/>
                </a:lnTo>
                <a:close/>
              </a:path>
            </a:pathLst>
          </a:custGeom>
          <a:solidFill>
            <a:srgbClr val="EEECE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2469852"/>
            <a:ext cx="380990" cy="381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640" y="3012460"/>
            <a:ext cx="5029074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Визуальный путь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6400640" y="3544828"/>
            <a:ext cx="502907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Баннеры, цветовые бейджи и явные статусы сопровождают пользователя от входа до участия.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640" y="4193084"/>
            <a:ext cx="53338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kern="100" spc="14" dirty="0">
                <a:solidFill>
                  <a:srgbClr val="151514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Решение AccessEvent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498" y="2165052"/>
            <a:ext cx="12700" cy="4337348"/>
          </a:xfrm>
          <a:prstGeom prst="rect">
            <a:avLst/>
          </a:prstGeom>
          <a:solidFill>
            <a:srgbClr val="C7C4BC"/>
          </a:solidFill>
          <a:ln/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30F938C-7DAE-03E1-FBD9-8C860D992021}"/>
              </a:ext>
            </a:extLst>
          </p:cNvPr>
          <p:cNvSpPr/>
          <p:nvPr/>
        </p:nvSpPr>
        <p:spPr>
          <a:xfrm>
            <a:off x="11070215" y="6534050"/>
            <a:ext cx="1069436" cy="307757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46723"/>
            <a:ext cx="11277318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dirty="0">
                <a:solidFill>
                  <a:srgbClr val="1515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Требования: доступность встроена в сценарий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189" y="1653778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2348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903016"/>
            <a:ext cx="5450644" cy="4599384"/>
          </a:xfrm>
          <a:custGeom>
            <a:avLst/>
            <a:gdLst/>
            <a:ahLst/>
            <a:cxnLst/>
            <a:rect l="l" t="t" r="r" b="b"/>
            <a:pathLst>
              <a:path w="5450644" h="4599384">
                <a:moveTo>
                  <a:pt x="9525" y="0"/>
                </a:moveTo>
                <a:lnTo>
                  <a:pt x="5450644" y="0"/>
                </a:lnTo>
                <a:lnTo>
                  <a:pt x="5450644" y="4599384"/>
                </a:lnTo>
                <a:lnTo>
                  <a:pt x="9525" y="4599384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EEECE7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182416"/>
            <a:ext cx="5145852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РОЛИ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479377"/>
            <a:ext cx="476238" cy="476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81" y="3089552"/>
            <a:ext cx="2344282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Пользователь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61981" y="3505736"/>
            <a:ext cx="23442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Регистрация, вход, поиск и запись на мероприятие.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659" y="2479377"/>
            <a:ext cx="476238" cy="476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58659" y="3089552"/>
            <a:ext cx="2344381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Организатор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3258659" y="3505736"/>
            <a:ext cx="234438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Создание события и управление заявками.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907833" y="1903016"/>
            <a:ext cx="5826674" cy="4599384"/>
          </a:xfrm>
          <a:custGeom>
            <a:avLst/>
            <a:gdLst/>
            <a:ahLst/>
            <a:cxnLst/>
            <a:rect l="l" t="t" r="r" b="b"/>
            <a:pathLst>
              <a:path w="5826674" h="4599384">
                <a:moveTo>
                  <a:pt x="0" y="0"/>
                </a:moveTo>
                <a:lnTo>
                  <a:pt x="5817149" y="0"/>
                </a:lnTo>
                <a:arcTo wR="9525" hR="9525" stAng="16200000" swAng="5400000"/>
                <a:lnTo>
                  <a:pt x="5826674" y="4589859"/>
                </a:lnTo>
                <a:arcTo wR="9525" hR="9525" stAng="0" swAng="5400000"/>
                <a:lnTo>
                  <a:pt x="0" y="4599384"/>
                </a:lnTo>
                <a:lnTo>
                  <a:pt x="0" y="0"/>
                </a:lnTo>
                <a:close/>
              </a:path>
            </a:pathLst>
          </a:custGeom>
          <a:solidFill>
            <a:srgbClr val="FCFBF8"/>
          </a:solidFill>
          <a:ln/>
        </p:spPr>
      </p:sp>
      <p:sp>
        <p:nvSpPr>
          <p:cNvPr id="13" name="Text 9"/>
          <p:cNvSpPr/>
          <p:nvPr/>
        </p:nvSpPr>
        <p:spPr>
          <a:xfrm>
            <a:off x="6212625" y="2182416"/>
            <a:ext cx="5521881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WCAG 2.1 AA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12625" y="2494935"/>
            <a:ext cx="5217089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Проверяем не только функцию, но и путь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6212625" y="3494881"/>
            <a:ext cx="104772" cy="104775"/>
          </a:xfrm>
          <a:prstGeom prst="ellipse">
            <a:avLst/>
          </a:prstGeom>
          <a:solidFill>
            <a:srgbClr val="151514"/>
          </a:solidFill>
          <a:ln/>
        </p:spPr>
      </p:sp>
      <p:sp>
        <p:nvSpPr>
          <p:cNvPr id="16" name="Text 12"/>
          <p:cNvSpPr/>
          <p:nvPr/>
        </p:nvSpPr>
        <p:spPr>
          <a:xfrm>
            <a:off x="6507893" y="3415844"/>
            <a:ext cx="492182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Контраст интерфейса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212625" y="3917752"/>
            <a:ext cx="104772" cy="104775"/>
          </a:xfrm>
          <a:prstGeom prst="ellipse">
            <a:avLst/>
          </a:prstGeom>
          <a:solidFill>
            <a:srgbClr val="151514"/>
          </a:solidFill>
          <a:ln/>
        </p:spPr>
      </p:sp>
      <p:sp>
        <p:nvSpPr>
          <p:cNvPr id="18" name="Text 14"/>
          <p:cNvSpPr/>
          <p:nvPr/>
        </p:nvSpPr>
        <p:spPr>
          <a:xfrm>
            <a:off x="6507893" y="3838714"/>
            <a:ext cx="492182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Понятные состояния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12625" y="4340622"/>
            <a:ext cx="104772" cy="104775"/>
          </a:xfrm>
          <a:prstGeom prst="ellipse">
            <a:avLst/>
          </a:prstGeom>
          <a:solidFill>
            <a:srgbClr val="151514"/>
          </a:solidFill>
          <a:ln/>
        </p:spPr>
      </p:sp>
      <p:sp>
        <p:nvSpPr>
          <p:cNvPr id="20" name="Text 16"/>
          <p:cNvSpPr/>
          <p:nvPr/>
        </p:nvSpPr>
        <p:spPr>
          <a:xfrm>
            <a:off x="6507893" y="4261584"/>
            <a:ext cx="492182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1500" dirty="0">
                <a:latin typeface="IBM Plex Sans" panose="020B0503050203000203" pitchFamily="34" charset="0"/>
              </a:rPr>
              <a:t>ARIA-атрибуты</a:t>
            </a:r>
            <a:endParaRPr lang="en-US" sz="1500" dirty="0">
              <a:latin typeface="High Tower Text" panose="02040502050506030303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212625" y="4763492"/>
            <a:ext cx="104772" cy="104775"/>
          </a:xfrm>
          <a:prstGeom prst="ellipse">
            <a:avLst/>
          </a:prstGeom>
          <a:solidFill>
            <a:srgbClr val="151514"/>
          </a:solidFill>
          <a:ln/>
        </p:spPr>
      </p:sp>
      <p:sp>
        <p:nvSpPr>
          <p:cNvPr id="22" name="Text 18"/>
          <p:cNvSpPr/>
          <p:nvPr/>
        </p:nvSpPr>
        <p:spPr>
          <a:xfrm>
            <a:off x="6507893" y="4684455"/>
            <a:ext cx="492182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Явные флаги инклюзивности и сурдоперевода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901483" y="1903016"/>
            <a:ext cx="12700" cy="4599384"/>
          </a:xfrm>
          <a:prstGeom prst="rect">
            <a:avLst/>
          </a:prstGeom>
          <a:solidFill>
            <a:srgbClr val="C7C4BC"/>
          </a:solidFill>
          <a:ln/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0CD7C31-1DA7-F437-80BD-AD1A1B0938C5}"/>
              </a:ext>
            </a:extLst>
          </p:cNvPr>
          <p:cNvSpPr/>
          <p:nvPr/>
        </p:nvSpPr>
        <p:spPr>
          <a:xfrm>
            <a:off x="11059064" y="6502400"/>
            <a:ext cx="1069436" cy="355600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31800"/>
            <a:ext cx="4089298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FCFBF8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0990" y="753463"/>
            <a:ext cx="3708307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Архитектура разделяет ответственность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0990" y="2330946"/>
            <a:ext cx="463538" cy="57150"/>
          </a:xfrm>
          <a:prstGeom prst="roundRect">
            <a:avLst>
              <a:gd name="adj" fmla="val 49999"/>
            </a:avLst>
          </a:prstGeom>
          <a:solidFill>
            <a:srgbClr val="E9272A"/>
          </a:solidFill>
          <a:ln/>
        </p:spPr>
      </p:sp>
      <p:sp>
        <p:nvSpPr>
          <p:cNvPr id="6" name="Text 4"/>
          <p:cNvSpPr/>
          <p:nvPr/>
        </p:nvSpPr>
        <p:spPr>
          <a:xfrm>
            <a:off x="380990" y="5593563"/>
            <a:ext cx="370830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0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Каждый слой отвечает за свою часть пользовательского пути.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077" y="330200"/>
            <a:ext cx="6857828" cy="385762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0896DD-9523-C933-112F-F70F7B733A61}"/>
              </a:ext>
            </a:extLst>
          </p:cNvPr>
          <p:cNvSpPr/>
          <p:nvPr/>
        </p:nvSpPr>
        <p:spPr>
          <a:xfrm>
            <a:off x="11059064" y="6502400"/>
            <a:ext cx="1069436" cy="355600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395923"/>
            <a:ext cx="11328117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dirty="0">
                <a:solidFill>
                  <a:srgbClr val="1515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Сценарий работает от входа до подтверждения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31789" y="1602978"/>
            <a:ext cx="11328017" cy="31651"/>
          </a:xfrm>
          <a:prstGeom prst="roundRect">
            <a:avLst>
              <a:gd name="adj" fmla="val 49998"/>
            </a:avLst>
          </a:prstGeom>
          <a:solidFill>
            <a:srgbClr val="2348FF"/>
          </a:solidFill>
          <a:ln/>
        </p:spPr>
      </p:sp>
      <p:sp>
        <p:nvSpPr>
          <p:cNvPr id="4" name="Text 2"/>
          <p:cNvSpPr/>
          <p:nvPr/>
        </p:nvSpPr>
        <p:spPr>
          <a:xfrm>
            <a:off x="431789" y="18522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1789" y="2118916"/>
            <a:ext cx="2603336" cy="1905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6" name="Text 4"/>
          <p:cNvSpPr/>
          <p:nvPr/>
        </p:nvSpPr>
        <p:spPr>
          <a:xfrm>
            <a:off x="431789" y="2275065"/>
            <a:ext cx="2603435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100" dirty="0">
                <a:solidFill>
                  <a:srgbClr val="1515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Регистрация и вход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31789" y="2691249"/>
            <a:ext cx="2603435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Пользователь получает доступ к защищённому сценарию.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40016" y="18522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40016" y="2118916"/>
            <a:ext cx="2603336" cy="1905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10" name="Text 8"/>
          <p:cNvSpPr/>
          <p:nvPr/>
        </p:nvSpPr>
        <p:spPr>
          <a:xfrm>
            <a:off x="3340016" y="2275065"/>
            <a:ext cx="2603435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100" dirty="0">
                <a:solidFill>
                  <a:srgbClr val="1515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Создание события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340016" y="2691249"/>
            <a:ext cx="260343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Организатор отмечает инклюзивные параметры.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48244" y="18522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8244" y="2118916"/>
            <a:ext cx="2603336" cy="1905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275065"/>
            <a:ext cx="2603435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100" dirty="0">
                <a:solidFill>
                  <a:srgbClr val="1515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Фильтр и запись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248244" y="2691249"/>
            <a:ext cx="260343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Участник находит подходящее мероприятие.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56471" y="1852216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56471" y="2118916"/>
            <a:ext cx="2603336" cy="1905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18" name="Text 16"/>
          <p:cNvSpPr/>
          <p:nvPr/>
        </p:nvSpPr>
        <p:spPr>
          <a:xfrm>
            <a:off x="9156471" y="2275065"/>
            <a:ext cx="2603435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100" dirty="0">
                <a:solidFill>
                  <a:srgbClr val="15151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Подтверждение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56471" y="2691249"/>
            <a:ext cx="260343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1515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pending → confirmed</a:t>
            </a:r>
            <a:endParaRPr lang="en-US" sz="15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" y="3670300"/>
            <a:ext cx="11328117" cy="2076152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32C855E-67DB-C5D4-19C1-80B8FEA2BF4F}"/>
              </a:ext>
            </a:extLst>
          </p:cNvPr>
          <p:cNvSpPr/>
          <p:nvPr/>
        </p:nvSpPr>
        <p:spPr>
          <a:xfrm>
            <a:off x="11059064" y="6502400"/>
            <a:ext cx="1069436" cy="355600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3" name="Text 1"/>
          <p:cNvSpPr/>
          <p:nvPr/>
        </p:nvSpPr>
        <p:spPr>
          <a:xfrm>
            <a:off x="304792" y="381000"/>
            <a:ext cx="4978275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FCFBF8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ДОКАЗАТЕЛЬСТВА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04792" y="699615"/>
            <a:ext cx="4673483" cy="132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Качество подтверждено проверками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04792" y="2202458"/>
            <a:ext cx="584086" cy="57150"/>
          </a:xfrm>
          <a:prstGeom prst="roundRect">
            <a:avLst>
              <a:gd name="adj" fmla="val 49999"/>
            </a:avLst>
          </a:prstGeom>
          <a:solidFill>
            <a:srgbClr val="E9272A"/>
          </a:solidFill>
          <a:ln/>
        </p:spPr>
      </p:sp>
      <p:sp>
        <p:nvSpPr>
          <p:cNvPr id="6" name="Text 4"/>
          <p:cNvSpPr/>
          <p:nvPr/>
        </p:nvSpPr>
        <p:spPr>
          <a:xfrm>
            <a:off x="304792" y="3707011"/>
            <a:ext cx="4673483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304792" y="4661098"/>
            <a:ext cx="497827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kern="100" spc="14" dirty="0">
                <a:solidFill>
                  <a:srgbClr val="FCFBF8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автоматизированных тестов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792" y="5305524"/>
            <a:ext cx="4673483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5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304792" y="6259612"/>
            <a:ext cx="497827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kern="100" spc="14" dirty="0">
                <a:solidFill>
                  <a:srgbClr val="FCFBF8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проверок GitHub Actions · дни 1–5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40256" y="381000"/>
            <a:ext cx="64514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kern="100" spc="14" dirty="0">
                <a:solidFill>
                  <a:srgbClr val="4F4C47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Проверки и артефакты проекта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627442"/>
              </p:ext>
            </p:extLst>
          </p:nvPr>
        </p:nvGraphicFramePr>
        <p:xfrm>
          <a:off x="5740256" y="744438"/>
          <a:ext cx="5994250" cy="3492016"/>
        </p:xfrm>
        <a:graphic>
          <a:graphicData uri="http://schemas.openxmlformats.org/drawingml/2006/table">
            <a:tbl>
              <a:tblPr/>
              <a:tblGrid>
                <a:gridCol w="161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7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Область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Результат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подтверждено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pytest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 тестов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Ключевые сценарии проверяются автоматически.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Исправления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бага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Ошибки зафиксированы и </a:t>
                      </a:r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IBM Plex Sans" panose="020B0503050203000203" pitchFamily="34" charset="0"/>
                          <a:ea typeface="+mn-ea"/>
                          <a:cs typeface="+mn-cs"/>
                        </a:rPr>
                        <a:t>задокументированы</a:t>
                      </a: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6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GitHub Actions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зелёных запусков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Проверки прошли последовательно в дни 1–5.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Документация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Полный комплект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515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ТЗ, архитектура, ER-диаграмма, тест-кейсы и руководства.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B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C1C9520-30CF-16CB-35F7-F3E64049B343}"/>
              </a:ext>
            </a:extLst>
          </p:cNvPr>
          <p:cNvSpPr/>
          <p:nvPr/>
        </p:nvSpPr>
        <p:spPr>
          <a:xfrm>
            <a:off x="11059064" y="6502400"/>
            <a:ext cx="1069436" cy="355600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31800"/>
            <a:ext cx="4089298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FCFBF8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СТРАТЕГИЧЕСКИЙ ВЗГЛЯД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0990" y="753463"/>
            <a:ext cx="3708307" cy="1865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SWOT показывает готовую основу для роста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0990" y="2797274"/>
            <a:ext cx="463538" cy="57150"/>
          </a:xfrm>
          <a:prstGeom prst="roundRect">
            <a:avLst>
              <a:gd name="adj" fmla="val 49999"/>
            </a:avLst>
          </a:prstGeom>
          <a:solidFill>
            <a:srgbClr val="E9272A"/>
          </a:solidFill>
          <a:ln/>
        </p:spPr>
      </p:sp>
      <p:sp>
        <p:nvSpPr>
          <p:cNvPr id="6" name="Text 4"/>
          <p:cNvSpPr/>
          <p:nvPr/>
        </p:nvSpPr>
        <p:spPr>
          <a:xfrm>
            <a:off x="380990" y="5593563"/>
            <a:ext cx="370830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0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Сильная база уже есть; масштабирование требует следующего цикла.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077" y="355600"/>
            <a:ext cx="6857828" cy="385762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43A2C8-68F3-DE0B-E823-448FC612D7BE}"/>
              </a:ext>
            </a:extLst>
          </p:cNvPr>
          <p:cNvSpPr/>
          <p:nvPr/>
        </p:nvSpPr>
        <p:spPr>
          <a:xfrm>
            <a:off x="11059064" y="6502400"/>
            <a:ext cx="1069436" cy="355600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69331" cy="685800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1893888"/>
            <a:ext cx="10210545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i="1" kern="100" spc="24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ИТОГ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86" y="2247999"/>
            <a:ext cx="9651759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ACCESSEVENT ГОТОВ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 СЛЕДУЮЩЕМУ ШАГУ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58786" y="3676749"/>
            <a:ext cx="3185041" cy="57150"/>
          </a:xfrm>
          <a:prstGeom prst="roundRect">
            <a:avLst>
              <a:gd name="adj" fmla="val 49999"/>
            </a:avLst>
          </a:prstGeom>
          <a:solidFill>
            <a:srgbClr val="2348FF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3975774"/>
            <a:ext cx="10210545" cy="29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Рабочий MVP закрывает ключевой пользовательский сценарий.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58786" y="4426883"/>
            <a:ext cx="965175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Инклюзивность заложена в требования, интерфейс и тестирование. Проект полностью подготовлен: код, CI/CD и документация.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769331" y="0"/>
            <a:ext cx="1422364" cy="6858000"/>
          </a:xfrm>
          <a:prstGeom prst="rect">
            <a:avLst/>
          </a:prstGeom>
          <a:solidFill>
            <a:srgbClr val="151514"/>
          </a:solidFill>
          <a:ln/>
        </p:spPr>
      </p:sp>
      <p:sp>
        <p:nvSpPr>
          <p:cNvPr id="9" name="Shape 7"/>
          <p:cNvSpPr/>
          <p:nvPr/>
        </p:nvSpPr>
        <p:spPr>
          <a:xfrm>
            <a:off x="11023324" y="813792"/>
            <a:ext cx="914377" cy="12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769331" y="391859"/>
            <a:ext cx="1422364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400" dirty="0">
                <a:solidFill>
                  <a:srgbClr val="FCFB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023324" y="4961632"/>
            <a:ext cx="914377" cy="1515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200" i="1" kern="100" spc="14" dirty="0">
                <a:solidFill>
                  <a:srgbClr val="FCFBF8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GITHUB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i="1" u="sng" kern="100" spc="14" dirty="0">
                <a:solidFill>
                  <a:srgbClr val="FCFBF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https://github.com/kop1lka-dev/access-event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CFBF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305</Words>
  <Application>Microsoft Office PowerPoint</Application>
  <PresentationFormat>Широкоэкранный</PresentationFormat>
  <Paragraphs>82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IBM Plex Sans</vt:lpstr>
      <vt:lpstr>Arial</vt:lpstr>
      <vt:lpstr>Noto Sans</vt:lpstr>
      <vt:lpstr>High Tower Text</vt:lpstr>
      <vt:lpstr>Noto Sans Medium</vt:lpstr>
      <vt:lpstr>IBM Plex Sans SemiBold</vt:lpstr>
      <vt:lpstr>Noto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Student_3</cp:lastModifiedBy>
  <cp:revision>4</cp:revision>
  <dcterms:created xsi:type="dcterms:W3CDTF">2026-10-19T12:51:01Z</dcterms:created>
  <dcterms:modified xsi:type="dcterms:W3CDTF">2026-10-19T12:54:04Z</dcterms:modified>
</cp:coreProperties>
</file>